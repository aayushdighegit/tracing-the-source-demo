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embeddedFontLst>
    <p:embeddedFont>
      <p:font typeface="IBM Plex Mono Bold" panose="020B0604020202020204" charset="0"/>
      <p:regular r:id="rId7"/>
    </p:embeddedFont>
    <p:embeddedFont>
      <p:font typeface="Libre Baskerville" panose="02000000000000000000" pitchFamily="2" charset="0"/>
      <p:regular r:id="rId8"/>
    </p:embeddedFont>
    <p:embeddedFont>
      <p:font typeface="Libre Baskerville Bold" panose="020B0604020202020204" charset="0"/>
      <p:regular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34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racing-the-source-demo-gbqckthahapps6dfzquix5f.streamlit.app/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72200"/>
            <a:ext cx="12191695" cy="685800"/>
          </a:xfrm>
          <a:prstGeom prst="roundRect">
            <a:avLst>
              <a:gd name="adj" fmla="val 5000"/>
            </a:avLst>
          </a:prstGeom>
          <a:solidFill>
            <a:srgbClr val="21436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8004173" y="1329035"/>
            <a:ext cx="3030759" cy="484306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83" y="292100"/>
            <a:ext cx="4376033" cy="139809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096" y="153392"/>
            <a:ext cx="717631" cy="717649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4143" y="125809"/>
            <a:ext cx="802858" cy="809228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9329" y="211138"/>
            <a:ext cx="2017464" cy="680244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511163" y="4046438"/>
            <a:ext cx="5584838" cy="4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TEAM MEMBERS:-</a:t>
            </a:r>
            <a:endParaRPr lang="en-US" sz="2000" dirty="0"/>
          </a:p>
        </p:txBody>
      </p:sp>
      <p:sp>
        <p:nvSpPr>
          <p:cNvPr id="9" name="Text 2"/>
          <p:cNvSpPr/>
          <p:nvPr/>
        </p:nvSpPr>
        <p:spPr>
          <a:xfrm>
            <a:off x="3261735" y="4046438"/>
            <a:ext cx="4212822" cy="4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Aayush Dighe</a:t>
            </a:r>
            <a:endParaRPr lang="en-US" sz="2000" dirty="0"/>
          </a:p>
        </p:txBody>
      </p:sp>
      <p:sp>
        <p:nvSpPr>
          <p:cNvPr id="10" name="Text 3"/>
          <p:cNvSpPr/>
          <p:nvPr/>
        </p:nvSpPr>
        <p:spPr>
          <a:xfrm>
            <a:off x="501042" y="2146895"/>
            <a:ext cx="2924896" cy="4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TRACK:- EVA 01</a:t>
            </a:r>
            <a:endParaRPr lang="en-US" sz="2000" dirty="0"/>
          </a:p>
        </p:txBody>
      </p:sp>
      <p:sp>
        <p:nvSpPr>
          <p:cNvPr id="11" name="Text 4"/>
          <p:cNvSpPr/>
          <p:nvPr/>
        </p:nvSpPr>
        <p:spPr>
          <a:xfrm>
            <a:off x="501042" y="2779713"/>
            <a:ext cx="8268204" cy="4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PROBLEM STATEMENT ID:- PS-04-Tracing the Source</a:t>
            </a:r>
            <a:endParaRPr lang="en-US" sz="2000" dirty="0"/>
          </a:p>
        </p:txBody>
      </p:sp>
      <p:sp>
        <p:nvSpPr>
          <p:cNvPr id="12" name="Text 5"/>
          <p:cNvSpPr/>
          <p:nvPr/>
        </p:nvSpPr>
        <p:spPr>
          <a:xfrm>
            <a:off x="501042" y="3413125"/>
            <a:ext cx="5854788" cy="4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TEAM NAME:- FreshMains()</a:t>
            </a:r>
            <a:endParaRPr lang="en-US" sz="2000" dirty="0"/>
          </a:p>
        </p:txBody>
      </p:sp>
      <p:sp>
        <p:nvSpPr>
          <p:cNvPr id="13" name="Text 6"/>
          <p:cNvSpPr/>
          <p:nvPr/>
        </p:nvSpPr>
        <p:spPr>
          <a:xfrm>
            <a:off x="3261735" y="4456906"/>
            <a:ext cx="4212822" cy="4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Arnav Achary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3261735" y="4867275"/>
            <a:ext cx="4212822" cy="4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Aarrav Kakade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785597" y="1132681"/>
            <a:ext cx="4500847" cy="45090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3429" y="1190724"/>
            <a:ext cx="6031555" cy="36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Problem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63429" y="1553369"/>
            <a:ext cx="5421971" cy="1941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0670" indent="-28067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Identifying the contaminated source during a disease outbreak is obscured by </a:t>
            </a: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missing and noisy data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.</a:t>
            </a:r>
            <a:endParaRPr lang="en-US" sz="1300" dirty="0"/>
          </a:p>
          <a:p>
            <a:pPr marL="280670" indent="-28067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Public health investigators and supply chain managers face this problem.</a:t>
            </a:r>
            <a:endParaRPr lang="en-US" sz="1300" dirty="0"/>
          </a:p>
          <a:p>
            <a:pPr marL="280670" indent="-28067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It is difficult to solve because widely consumed safe foods create massive statistical false positives and patients frequently misremember where they ate.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3429" y="3494584"/>
            <a:ext cx="6031555" cy="36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63429" y="3857228"/>
            <a:ext cx="5421971" cy="221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0670" indent="-28067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 propose a website/app that helps users mathematically pinpoint the </a:t>
            </a: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true contaminated food batch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while ignoring false signals.</a:t>
            </a:r>
            <a:endParaRPr lang="en-US" sz="1300" dirty="0"/>
          </a:p>
          <a:p>
            <a:pPr marL="280670" indent="-28067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It takes real-time patient symptom reports, vendor logs and supply chain data from the user.</a:t>
            </a:r>
            <a:endParaRPr lang="en-US" sz="1300" dirty="0"/>
          </a:p>
          <a:p>
            <a:pPr marL="280670" indent="-28067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It processes the information and gives a prioritized </a:t>
            </a: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prime suspect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with a clear statistical evidence trail for targeted recalls.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52927" y="1233388"/>
            <a:ext cx="5738768" cy="36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52927" y="1596033"/>
            <a:ext cx="5421971" cy="2879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True Bayesian Risk Engine: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Uses Laplace smoothing to filter out safe baseline foods.</a:t>
            </a:r>
            <a:endParaRPr lang="en-US" sz="140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Supply Chain Graph Traversal: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Cross-references isolated illnesses across city wards to find a single shared wholesaler.</a:t>
            </a:r>
            <a:endParaRPr lang="en-US" sz="140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Geospatial Mapping: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tracking of outbreak clusters across Thane, Kalyan and Dombivli.</a:t>
            </a:r>
            <a:endParaRPr lang="en-US" sz="140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Dynamic Time Filtering: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Simulates real-time case influxes to update predictions dynamically.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54482" y="4372868"/>
            <a:ext cx="573876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What Makes It Different from existing solution?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52926" y="4795837"/>
            <a:ext cx="5421971" cy="155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Simple and easy to use via a multi-tabbed dashboard.</a:t>
            </a:r>
            <a:endParaRPr lang="en-US" sz="130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Saves time and effort by automating graph-theory pathfinding.</a:t>
            </a:r>
            <a:endParaRPr lang="en-US" sz="130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Provides an evidence trail to avoid massive incorrect public product recalls.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172200"/>
            <a:ext cx="12191695" cy="685800"/>
          </a:xfrm>
          <a:prstGeom prst="roundRect">
            <a:avLst>
              <a:gd name="adj" fmla="val 5000"/>
            </a:avLst>
          </a:prstGeom>
          <a:solidFill>
            <a:srgbClr val="21436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23" y="108446"/>
            <a:ext cx="765156" cy="76517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92" y="78978"/>
            <a:ext cx="855939" cy="8628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94992" y="250130"/>
            <a:ext cx="6241993" cy="857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PROPOSED SOLUTION</a:t>
            </a:r>
            <a:endParaRPr lang="en-US" sz="4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5564" y="90587"/>
            <a:ext cx="839667" cy="8395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72200"/>
            <a:ext cx="12191794" cy="685800"/>
          </a:xfrm>
          <a:prstGeom prst="roundRect">
            <a:avLst>
              <a:gd name="adj" fmla="val 5000"/>
            </a:avLst>
          </a:prstGeom>
          <a:solidFill>
            <a:srgbClr val="21436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1" y="108545"/>
            <a:ext cx="770216" cy="77023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22" y="124619"/>
            <a:ext cx="721203" cy="7313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783" y="297160"/>
            <a:ext cx="10466225" cy="857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TECHNICAL APPROACH &amp; WORKFLOW</a:t>
            </a:r>
            <a:endParaRPr lang="en-US" sz="40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3785597" y="1132681"/>
            <a:ext cx="4500847" cy="450909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42683" y="994866"/>
            <a:ext cx="704485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Step 1 — User Input 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adjusts the simulation slider to process daily hospital reports.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242683" y="1634827"/>
            <a:ext cx="7654436" cy="32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     ↓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242683" y="1961158"/>
            <a:ext cx="704485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Step 2 — Data Collection 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system structures the patient, vendor and wholesale batch data into a network.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242683" y="2601119"/>
            <a:ext cx="7654436" cy="32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     ↓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242683" y="2927449"/>
            <a:ext cx="704485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Step 3 — Processing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The system processes and analyzes the data using graph traversal and Bayesian probability to reject memory noise.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42683" y="3567410"/>
            <a:ext cx="7654436" cy="32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     ↓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242683" y="3893741"/>
            <a:ext cx="704485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Step 4 — Decision / Prediction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The system generates a Top 3 prime suspect list ranked by infection risk probability.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242683" y="4533702"/>
            <a:ext cx="7044851" cy="831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     ↓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Step 5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13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— Final Output</a:t>
            </a: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The result is shown to the user in a format via dynamic KPI metrics, a PyVis network graph and a geospatial map.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01766" y="5137448"/>
            <a:ext cx="7044851" cy="728006"/>
          </a:xfrm>
          <a:prstGeom prst="rect">
            <a:avLst/>
          </a:prstGeom>
          <a:noFill/>
          <a:ln/>
        </p:spPr>
        <p:txBody>
          <a:bodyPr wrap="square" lIns="0" tIns="283838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Demo (Optional):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1766" y="5777410"/>
            <a:ext cx="7654436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  <a:hlinkClick r:id="rId6"/>
              </a:rPr>
              <a:t>https://tracing-the-source-demo-gbqckthahapps6dfzquix5f.streamlit.app/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405701" y="1286570"/>
            <a:ext cx="4785994" cy="36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Technology &amp; Why we used it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405701" y="1649214"/>
            <a:ext cx="4264811" cy="447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8488" indent="-348488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Frontend: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Streamlit (For deployment of clean multi-tabbed interactive dashboards).</a:t>
            </a:r>
            <a:endParaRPr lang="en-US" sz="1400" dirty="0"/>
          </a:p>
          <a:p>
            <a:pPr marL="348488" indent="-348488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Backend: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Python (For handling of statistical algorithms and complex logic).</a:t>
            </a:r>
            <a:endParaRPr lang="en-US" sz="1400" dirty="0"/>
          </a:p>
          <a:p>
            <a:pPr marL="348488" indent="-348488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Database: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Pandas &amp; NetworkX (For memory-based relational data traversal and graphing).</a:t>
            </a:r>
            <a:endParaRPr lang="en-US" sz="1400" dirty="0"/>
          </a:p>
          <a:p>
            <a:pPr marL="348488" indent="-348488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AI/ML: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Bayesian Prior/Laplace Smoothing (To mathematically filter noise and prevent false positives on small sample sizes).</a:t>
            </a:r>
            <a:endParaRPr lang="en-US" sz="1400" dirty="0"/>
          </a:p>
          <a:p>
            <a:pPr marL="348488" indent="-348488" algn="l">
              <a:lnSpc>
                <a:spcPct val="140000"/>
              </a:lnSpc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Visuals:</a:t>
            </a:r>
            <a:r>
              <a:rPr lang="en-US" sz="14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PyVis &amp; Streamlit Maps (For rendering 3D supply chain nodes and geographical spread).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5564" y="90587"/>
            <a:ext cx="839667" cy="839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72200"/>
            <a:ext cx="12191695" cy="685800"/>
          </a:xfrm>
          <a:prstGeom prst="roundRect">
            <a:avLst>
              <a:gd name="adj" fmla="val 5000"/>
            </a:avLst>
          </a:prstGeom>
          <a:solidFill>
            <a:srgbClr val="21436F"/>
          </a:solidFill>
          <a:ln/>
        </p:spPr>
      </p:sp>
      <p:sp>
        <p:nvSpPr>
          <p:cNvPr id="3" name="Text 1"/>
          <p:cNvSpPr/>
          <p:nvPr/>
        </p:nvSpPr>
        <p:spPr>
          <a:xfrm>
            <a:off x="2271060" y="255687"/>
            <a:ext cx="9026101" cy="857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FUTURE SCOPE &amp; REFERENCES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785597" y="1132681"/>
            <a:ext cx="4500847" cy="45090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389" y="1740495"/>
            <a:ext cx="579135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58389" y="2124472"/>
            <a:ext cx="5181768" cy="4047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4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Add more features like real-time IoT temperature sensor tracking for ingredient batches.</a:t>
            </a:r>
            <a:endParaRPr lang="en-US" sz="144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4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 accuracy and performance by integrating machine learning for automated anomaly detection.</a:t>
            </a:r>
            <a:endParaRPr lang="en-US" sz="144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4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Support users via cloud deployment (AWS/GCP) with secure login.</a:t>
            </a:r>
            <a:endParaRPr lang="en-US" sz="144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4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Add mobile application support for field health investigators logging cases.</a:t>
            </a:r>
            <a:endParaRPr lang="en-US" sz="144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4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Connect with external services like municipal hospital APIs for live automated case intake.</a:t>
            </a:r>
            <a:endParaRPr lang="en-US" sz="144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44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Deploy for real-world use, in food safety and public health administration departments.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6324045" y="1740495"/>
            <a:ext cx="5791353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24045" y="2124472"/>
            <a:ext cx="5181768" cy="255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Datasets: Custom Python-generated synthetic outbreak data simulating supply chains.</a:t>
            </a:r>
            <a:endParaRPr lang="en-US" sz="150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Research: Graph Theory and Bayesian Probability algorithms.</a:t>
            </a:r>
            <a:endParaRPr lang="en-US" sz="150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Technologies: Streamlit Documentation, NetworkX, Pandas, PyVis.</a:t>
            </a:r>
            <a:endParaRPr lang="en-US" sz="1500" dirty="0"/>
          </a:p>
          <a:p>
            <a:pPr marL="323850" indent="-323850" algn="l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Other Resources: Hackathon Problem Statement constraints and guidelines.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21" y="108545"/>
            <a:ext cx="770216" cy="77023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92" y="78978"/>
            <a:ext cx="861594" cy="86846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5564" y="90587"/>
            <a:ext cx="839667" cy="8395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587</Words>
  <Application>Microsoft Office PowerPoint</Application>
  <PresentationFormat>Widescreen</PresentationFormat>
  <Paragraphs>60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Libre Baskerville Bold</vt:lpstr>
      <vt:lpstr>IBM Plex Mono Bold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Aayush Dighe</cp:lastModifiedBy>
  <cp:revision>3</cp:revision>
  <dcterms:created xsi:type="dcterms:W3CDTF">2026-10-12T15:55:08Z</dcterms:created>
  <dcterms:modified xsi:type="dcterms:W3CDTF">2026-10-12T16:26:36Z</dcterms:modified>
</cp:coreProperties>
</file>